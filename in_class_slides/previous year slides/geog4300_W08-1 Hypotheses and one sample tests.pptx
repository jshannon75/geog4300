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95" r:id="rId4"/>
    <p:sldId id="296" r:id="rId5"/>
    <p:sldId id="306" r:id="rId6"/>
    <p:sldId id="269" r:id="rId7"/>
    <p:sldId id="297" r:id="rId8"/>
    <p:sldId id="303" r:id="rId9"/>
    <p:sldId id="305" r:id="rId10"/>
    <p:sldId id="298" r:id="rId11"/>
    <p:sldId id="299" r:id="rId12"/>
    <p:sldId id="304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00" r:id="rId21"/>
    <p:sldId id="30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23026-85D4-48E8-9219-18000F688023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D42E2-8102-4E72-B8DC-BA8209884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0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9256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382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885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3331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8651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712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2492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2984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76913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2006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48337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33676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13542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02927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98125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99533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51699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5565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1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9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7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9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59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60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6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39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93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8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91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9932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1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10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54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21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16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3C8B963-0F36-48FC-991E-AA63861DA924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79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4917" y="3979334"/>
            <a:ext cx="9440034" cy="1828801"/>
          </a:xfrm>
        </p:spPr>
        <p:txBody>
          <a:bodyPr>
            <a:normAutofit/>
          </a:bodyPr>
          <a:lstStyle/>
          <a:p>
            <a:r>
              <a:rPr lang="en-US" dirty="0"/>
              <a:t>Week 6: Tests of difference; Midterm reflections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D1488-58DF-4A33-AC86-D6B690A68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917" y="5808133"/>
            <a:ext cx="9440034" cy="1049867"/>
          </a:xfrm>
        </p:spPr>
        <p:txBody>
          <a:bodyPr>
            <a:normAutofit/>
          </a:bodyPr>
          <a:lstStyle/>
          <a:p>
            <a:r>
              <a:rPr lang="en-US" sz="3200" dirty="0"/>
              <a:t>Geog4300: Shannon</a:t>
            </a:r>
          </a:p>
        </p:txBody>
      </p:sp>
      <p:pic>
        <p:nvPicPr>
          <p:cNvPr id="5" name="Shape 121" descr="http://my.execpc.com/~helberg/pitfalls/power.GIF">
            <a:extLst>
              <a:ext uri="{FF2B5EF4-FFF2-40B4-BE49-F238E27FC236}">
                <a16:creationId xmlns:a16="http://schemas.microsoft.com/office/drawing/2014/main" id="{4AE21C7F-A5FA-4EE9-A71D-1365A637BE0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06144" y="357231"/>
            <a:ext cx="4579712" cy="34347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22518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This week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6F41FE-C35C-4ABD-80FC-79A98E493CED}"/>
              </a:ext>
            </a:extLst>
          </p:cNvPr>
          <p:cNvSpPr/>
          <p:nvPr/>
        </p:nvSpPr>
        <p:spPr>
          <a:xfrm>
            <a:off x="538528" y="814111"/>
            <a:ext cx="108872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Hypothesis testing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One- and two-sample tests of difference</a:t>
            </a:r>
          </a:p>
        </p:txBody>
      </p:sp>
    </p:spTree>
    <p:extLst>
      <p:ext uri="{BB962C8B-B14F-4D97-AF65-F5344CB8AC3E}">
        <p14:creationId xmlns:p14="http://schemas.microsoft.com/office/powerpoint/2010/main" val="3926810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6" y="253767"/>
            <a:ext cx="5404204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Ingredients of classical hypothesis testing</a:t>
            </a:r>
          </a:p>
        </p:txBody>
      </p:sp>
      <p:pic>
        <p:nvPicPr>
          <p:cNvPr id="103" name="Shape 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391" y="1416339"/>
            <a:ext cx="4076749" cy="15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Shape 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391" y="3057675"/>
            <a:ext cx="4153324" cy="271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3DC1E106-D16E-FD3D-A494-FB188A31F7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972" y="0"/>
            <a:ext cx="5302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174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6" y="253767"/>
            <a:ext cx="7894040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Reject or fail to reject?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D516A0-E7F0-4BE5-B2C9-019EEC54CF54}"/>
              </a:ext>
            </a:extLst>
          </p:cNvPr>
          <p:cNvSpPr/>
          <p:nvPr/>
        </p:nvSpPr>
        <p:spPr>
          <a:xfrm>
            <a:off x="536895" y="990280"/>
            <a:ext cx="1132513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Based on test results, we </a:t>
            </a:r>
            <a:r>
              <a:rPr lang="en-US" sz="3600" b="1" i="1" dirty="0">
                <a:solidFill>
                  <a:srgbClr val="FFC000"/>
                </a:solidFill>
              </a:rPr>
              <a:t>reject</a:t>
            </a:r>
            <a:r>
              <a:rPr lang="en-US" sz="3600" b="1" i="1" dirty="0"/>
              <a:t> </a:t>
            </a:r>
            <a:r>
              <a:rPr lang="en-US" sz="3600" dirty="0"/>
              <a:t>or </a:t>
            </a:r>
            <a:r>
              <a:rPr lang="en-US" sz="3600" b="1" i="1" dirty="0">
                <a:solidFill>
                  <a:srgbClr val="FFC000"/>
                </a:solidFill>
              </a:rPr>
              <a:t>fail to reject</a:t>
            </a:r>
            <a:r>
              <a:rPr lang="en-US" sz="3600" dirty="0">
                <a:solidFill>
                  <a:srgbClr val="FFC000"/>
                </a:solidFill>
              </a:rPr>
              <a:t> </a:t>
            </a:r>
            <a:r>
              <a:rPr lang="en-US" sz="3600" dirty="0"/>
              <a:t>the null hypothesis.</a:t>
            </a:r>
          </a:p>
          <a:p>
            <a:endParaRPr lang="en-US" sz="3600" dirty="0"/>
          </a:p>
          <a:p>
            <a:r>
              <a:rPr lang="en-US" sz="3600" dirty="0"/>
              <a:t>We don’t prove or disprove it, but show it is likely or unlikely to be true.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E4C960-41A8-4697-835A-DC13BB9B44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991"/>
          <a:stretch/>
        </p:blipFill>
        <p:spPr>
          <a:xfrm>
            <a:off x="5898226" y="3852602"/>
            <a:ext cx="5963806" cy="286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597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5" y="297310"/>
            <a:ext cx="7894040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Hypothesizing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D516A0-E7F0-4BE5-B2C9-019EEC54CF54}"/>
              </a:ext>
            </a:extLst>
          </p:cNvPr>
          <p:cNvSpPr/>
          <p:nvPr/>
        </p:nvSpPr>
        <p:spPr>
          <a:xfrm>
            <a:off x="914400" y="990280"/>
            <a:ext cx="1094763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Give the null and alterative hypothesis for the following research questions.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Is the average commute time higher on Mondays than it is the rest of the week?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Is the amount of property damage from severe weather different between southern states?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Is there an association between college teams’ football records and rates of student enrollment?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Is the rate of flu cases low in our area compared to our state?</a:t>
            </a:r>
          </a:p>
        </p:txBody>
      </p:sp>
    </p:spTree>
    <p:extLst>
      <p:ext uri="{BB962C8B-B14F-4D97-AF65-F5344CB8AC3E}">
        <p14:creationId xmlns:p14="http://schemas.microsoft.com/office/powerpoint/2010/main" val="2478345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424452" y="186909"/>
            <a:ext cx="10405735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>
                <a:ea typeface="Gill Sans MT"/>
                <a:cs typeface="Gill Sans MT"/>
                <a:sym typeface="Gill Sans MT"/>
              </a:rPr>
              <a:t>Tests of difference</a:t>
            </a:r>
            <a:endParaRPr lang="en-US" sz="40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E8621C-82F3-42A2-89F9-F4AEFEBF5767}"/>
              </a:ext>
            </a:extLst>
          </p:cNvPr>
          <p:cNvSpPr/>
          <p:nvPr/>
        </p:nvSpPr>
        <p:spPr>
          <a:xfrm>
            <a:off x="552257" y="861861"/>
            <a:ext cx="33009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Is there a difference?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9A548-9E19-44FC-8FE4-86C9109625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861" y="1979803"/>
            <a:ext cx="8051578" cy="4239720"/>
          </a:xfrm>
          <a:prstGeom prst="rect">
            <a:avLst/>
          </a:prstGeom>
        </p:spPr>
      </p:pic>
      <p:pic>
        <p:nvPicPr>
          <p:cNvPr id="7" name="Shape 150">
            <a:extLst>
              <a:ext uri="{FF2B5EF4-FFF2-40B4-BE49-F238E27FC236}">
                <a16:creationId xmlns:a16="http://schemas.microsoft.com/office/drawing/2014/main" id="{E072D09D-22CF-4F6E-AB98-BE38955E185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452" y="3147163"/>
            <a:ext cx="3089275" cy="19049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424452" y="186909"/>
            <a:ext cx="10405735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>
                <a:ea typeface="Gill Sans MT"/>
                <a:cs typeface="Gill Sans MT"/>
                <a:sym typeface="Gill Sans MT"/>
              </a:rPr>
              <a:t>Tests of difference</a:t>
            </a:r>
            <a:endParaRPr lang="en-US" sz="40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E8621C-82F3-42A2-89F9-F4AEFEBF5767}"/>
              </a:ext>
            </a:extLst>
          </p:cNvPr>
          <p:cNvSpPr/>
          <p:nvPr/>
        </p:nvSpPr>
        <p:spPr>
          <a:xfrm>
            <a:off x="552257" y="861861"/>
            <a:ext cx="1016416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What is the specific purpose of this test? When would you use it rather than another one?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One sample t-test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Two sample t-test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Two sample </a:t>
            </a:r>
            <a:r>
              <a:rPr lang="en-US" sz="2800" u="sng" dirty="0"/>
              <a:t>paired</a:t>
            </a:r>
            <a:r>
              <a:rPr lang="en-US" sz="2800" dirty="0"/>
              <a:t> t-test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Non-parametric (Wilcoxon) t-test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Difference test between two proportions</a:t>
            </a:r>
          </a:p>
        </p:txBody>
      </p:sp>
    </p:spTree>
    <p:extLst>
      <p:ext uri="{BB962C8B-B14F-4D97-AF65-F5344CB8AC3E}">
        <p14:creationId xmlns:p14="http://schemas.microsoft.com/office/powerpoint/2010/main" val="127034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424452" y="186909"/>
            <a:ext cx="10405735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a typeface="Gill Sans MT"/>
                <a:cs typeface="Gill Sans MT"/>
                <a:sym typeface="Gill Sans MT"/>
              </a:rPr>
              <a:t>One sample t-test</a:t>
            </a:r>
            <a:endParaRPr lang="en-US" sz="40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E8621C-82F3-42A2-89F9-F4AEFEBF5767}"/>
              </a:ext>
            </a:extLst>
          </p:cNvPr>
          <p:cNvSpPr/>
          <p:nvPr/>
        </p:nvSpPr>
        <p:spPr>
          <a:xfrm>
            <a:off x="552257" y="861861"/>
            <a:ext cx="1016416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Example: Are oak trees in our area (n=28) the same age as those throughout the state?</a:t>
            </a:r>
          </a:p>
          <a:p>
            <a:endParaRPr lang="en-US" sz="2800" dirty="0"/>
          </a:p>
          <a:p>
            <a:r>
              <a:rPr lang="en-US" sz="2800" dirty="0"/>
              <a:t>Sample area:</a:t>
            </a:r>
          </a:p>
          <a:p>
            <a:r>
              <a:rPr lang="en-US" sz="2800" dirty="0"/>
              <a:t>	Mean age: 65 years			Standard deviation: 7.3 years</a:t>
            </a:r>
          </a:p>
          <a:p>
            <a:endParaRPr lang="en-US" sz="2800" dirty="0"/>
          </a:p>
          <a:p>
            <a:r>
              <a:rPr lang="en-US" sz="2800" dirty="0"/>
              <a:t>State: </a:t>
            </a:r>
          </a:p>
          <a:p>
            <a:r>
              <a:rPr lang="en-US" sz="2800" dirty="0"/>
              <a:t>	Mean age: 57 years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0C94F1-B90A-7204-703A-EE0E39EB5844}"/>
                  </a:ext>
                </a:extLst>
              </p:cNvPr>
              <p:cNvSpPr txBox="1"/>
              <p:nvPr/>
            </p:nvSpPr>
            <p:spPr>
              <a:xfrm>
                <a:off x="1182849" y="4937988"/>
                <a:ext cx="2431884" cy="1533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0C94F1-B90A-7204-703A-EE0E39EB5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849" y="4937988"/>
                <a:ext cx="2431884" cy="15331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4097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424452" y="186909"/>
            <a:ext cx="10405735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a typeface="Gill Sans MT"/>
                <a:cs typeface="Gill Sans MT"/>
                <a:sym typeface="Gill Sans MT"/>
              </a:rPr>
              <a:t>One sample t-test</a:t>
            </a:r>
            <a:endParaRPr lang="en-US" sz="40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E8621C-82F3-42A2-89F9-F4AEFEBF5767}"/>
              </a:ext>
            </a:extLst>
          </p:cNvPr>
          <p:cNvSpPr/>
          <p:nvPr/>
        </p:nvSpPr>
        <p:spPr>
          <a:xfrm>
            <a:off x="552257" y="861861"/>
            <a:ext cx="1016416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Example: Are oak trees in our area (n=28) the same age as those throughout the state?</a:t>
            </a:r>
          </a:p>
          <a:p>
            <a:endParaRPr lang="en-US" sz="2800" dirty="0"/>
          </a:p>
          <a:p>
            <a:r>
              <a:rPr lang="en-US" sz="2800" dirty="0"/>
              <a:t>Sample area:</a:t>
            </a:r>
          </a:p>
          <a:p>
            <a:r>
              <a:rPr lang="en-US" sz="2800" dirty="0"/>
              <a:t>	Mean age: 65 years			Standard deviation: 7.3 years</a:t>
            </a:r>
          </a:p>
          <a:p>
            <a:endParaRPr lang="en-US" sz="2800" dirty="0"/>
          </a:p>
          <a:p>
            <a:r>
              <a:rPr lang="en-US" sz="2800" dirty="0"/>
              <a:t>State: </a:t>
            </a:r>
          </a:p>
          <a:p>
            <a:r>
              <a:rPr lang="en-US" sz="2800" dirty="0"/>
              <a:t>	Mean age: 57 years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0C94F1-B90A-7204-703A-EE0E39EB5844}"/>
                  </a:ext>
                </a:extLst>
              </p:cNvPr>
              <p:cNvSpPr txBox="1"/>
              <p:nvPr/>
            </p:nvSpPr>
            <p:spPr>
              <a:xfrm>
                <a:off x="1182849" y="4937988"/>
                <a:ext cx="2431884" cy="1533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0C94F1-B90A-7204-703A-EE0E39EB5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849" y="4937988"/>
                <a:ext cx="2431884" cy="15331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D1972E-BF4E-EE67-206F-B1AE5E4CA2B7}"/>
                  </a:ext>
                </a:extLst>
              </p:cNvPr>
              <p:cNvSpPr txBox="1"/>
              <p:nvPr/>
            </p:nvSpPr>
            <p:spPr>
              <a:xfrm>
                <a:off x="5236689" y="4171432"/>
                <a:ext cx="5887959" cy="11007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4000" b="0" i="1" smtClean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b="0" i="1" smtClean="0"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65 −57</m:t>
                        </m:r>
                      </m:num>
                      <m:den>
                        <m:f>
                          <m:fPr>
                            <m:type m:val="skw"/>
                            <m:ctrlPr>
                              <a:rPr lang="en-US" sz="4000" b="0" i="1" smtClean="0">
                                <a:solidFill>
                                  <a:schemeClr val="accent1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000" b="0" i="1" smtClean="0">
                                <a:solidFill>
                                  <a:schemeClr val="accent1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7.3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4000" b="0" i="1" smtClean="0">
                                    <a:solidFill>
                                      <a:schemeClr val="accent1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4000" b="0" i="1" smtClean="0">
                                    <a:solidFill>
                                      <a:schemeClr val="accent1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a:rPr lang="en-US" sz="4000" b="0" i="1" smtClean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4000" b="0" i="1" smtClean="0"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−8</m:t>
                        </m:r>
                      </m:num>
                      <m:den>
                        <m:r>
                          <a:rPr lang="en-US" sz="4000" b="0" i="1" smtClean="0"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1.3796</m:t>
                        </m:r>
                      </m:den>
                    </m:f>
                    <m:r>
                      <a:rPr lang="en-US" sz="4000" b="0" i="1" smtClean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=−5.8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D1972E-BF4E-EE67-206F-B1AE5E4CA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689" y="4171432"/>
                <a:ext cx="5887959" cy="11007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3262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424452" y="186909"/>
            <a:ext cx="10405735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a typeface="Gill Sans MT"/>
                <a:cs typeface="Gill Sans MT"/>
                <a:sym typeface="Gill Sans MT"/>
              </a:rPr>
              <a:t>Interpreting results</a:t>
            </a:r>
            <a:endParaRPr lang="en-US" sz="40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E8621C-82F3-42A2-89F9-F4AEFEBF5767}"/>
              </a:ext>
            </a:extLst>
          </p:cNvPr>
          <p:cNvSpPr/>
          <p:nvPr/>
        </p:nvSpPr>
        <p:spPr>
          <a:xfrm>
            <a:off x="552257" y="861861"/>
            <a:ext cx="1016416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Is this a one-tailed or two-tailed test? </a:t>
            </a:r>
          </a:p>
          <a:p>
            <a:r>
              <a:rPr lang="en-US" sz="2800" dirty="0"/>
              <a:t>Is the result above/below the critical value for significance?</a:t>
            </a:r>
          </a:p>
        </p:txBody>
      </p:sp>
      <p:pic>
        <p:nvPicPr>
          <p:cNvPr id="4" name="Shape 153" descr="http://www.biochemia-medica.com/sites/default/files/Marusteri_M._Statistical_test_selection_when_comparing_groups_Fig._3.jpg">
            <a:extLst>
              <a:ext uri="{FF2B5EF4-FFF2-40B4-BE49-F238E27FC236}">
                <a16:creationId xmlns:a16="http://schemas.microsoft.com/office/drawing/2014/main" id="{F77A2C1E-7756-44BD-9939-354C512333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9810" y="2140473"/>
            <a:ext cx="6567738" cy="453061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C7441C5-4496-43B4-8C0B-7E4EF33586AA}"/>
              </a:ext>
            </a:extLst>
          </p:cNvPr>
          <p:cNvSpPr/>
          <p:nvPr/>
        </p:nvSpPr>
        <p:spPr>
          <a:xfrm>
            <a:off x="545234" y="2140473"/>
            <a:ext cx="442626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P &lt; 0.05:</a:t>
            </a:r>
          </a:p>
          <a:p>
            <a:r>
              <a:rPr lang="en-US" sz="2800" dirty="0"/>
              <a:t>These results are possible in &lt;5% of all possible samples in which the two means are equal.</a:t>
            </a:r>
          </a:p>
        </p:txBody>
      </p:sp>
    </p:spTree>
    <p:extLst>
      <p:ext uri="{BB962C8B-B14F-4D97-AF65-F5344CB8AC3E}">
        <p14:creationId xmlns:p14="http://schemas.microsoft.com/office/powerpoint/2010/main" val="789215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346409" y="217048"/>
            <a:ext cx="40672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Interpreting results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552258" y="861861"/>
            <a:ext cx="629242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Is this a one-tailed or two-tailed test? </a:t>
            </a:r>
          </a:p>
          <a:p>
            <a:r>
              <a:rPr lang="en-US" sz="2800" dirty="0"/>
              <a:t>Is the result above/below the critical value for significance?</a:t>
            </a:r>
          </a:p>
          <a:p>
            <a:endParaRPr lang="en-US" sz="2800" dirty="0"/>
          </a:p>
          <a:p>
            <a:r>
              <a:rPr lang="en-US" sz="2800" b="1" dirty="0"/>
              <a:t>Degrees of freedom:</a:t>
            </a:r>
            <a:r>
              <a:rPr lang="en-US" sz="2800" b="1" i="1" dirty="0"/>
              <a:t> </a:t>
            </a:r>
          </a:p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One sample test: n-1 (28 in our case)</a:t>
            </a:r>
          </a:p>
          <a:p>
            <a:pPr lvl="0">
              <a:buSzPct val="25000"/>
            </a:pP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 lvl="0">
              <a:buSzPct val="25000"/>
            </a:pP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>
              <a:buSzPct val="25000"/>
            </a:pPr>
            <a:r>
              <a:rPr lang="en-US" sz="2800" b="1" dirty="0"/>
              <a:t>Critical value:</a:t>
            </a:r>
            <a:r>
              <a:rPr lang="en-US" sz="2800" b="1" i="1" dirty="0"/>
              <a:t> </a:t>
            </a:r>
          </a:p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Based on confidence level (alpha) and </a:t>
            </a:r>
            <a:r>
              <a:rPr lang="en-US" sz="2800" dirty="0" err="1">
                <a:ea typeface="Gill Sans MT"/>
                <a:cs typeface="Gill Sans MT"/>
                <a:sym typeface="Gill Sans MT"/>
              </a:rPr>
              <a:t>df</a:t>
            </a:r>
            <a:endParaRPr lang="en-US" sz="2800" dirty="0">
              <a:ea typeface="Gill Sans MT"/>
              <a:cs typeface="Gill Sans MT"/>
              <a:sym typeface="Gill Sans MT"/>
            </a:endParaRPr>
          </a:p>
          <a:p>
            <a:endParaRPr 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76EA96-E7C3-49FE-8148-26FB35F7A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647" y="-1"/>
            <a:ext cx="5054353" cy="685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97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346409" y="217048"/>
            <a:ext cx="40672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Interpreting results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552258" y="861861"/>
            <a:ext cx="629242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Is this a one-tailed or two-tailed test? </a:t>
            </a:r>
          </a:p>
          <a:p>
            <a:r>
              <a:rPr lang="en-US" sz="2800" dirty="0"/>
              <a:t>Is the result above/below the critical value for significance?</a:t>
            </a:r>
          </a:p>
          <a:p>
            <a:endParaRPr lang="en-US" sz="2800" dirty="0"/>
          </a:p>
          <a:p>
            <a:r>
              <a:rPr lang="en-US" sz="2800" b="1" dirty="0"/>
              <a:t>Degrees of freedom:</a:t>
            </a:r>
            <a:r>
              <a:rPr lang="en-US" sz="2800" b="1" i="1" dirty="0"/>
              <a:t> </a:t>
            </a:r>
          </a:p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One sample test: n-1 (28 in our case)</a:t>
            </a:r>
          </a:p>
          <a:p>
            <a:pPr lvl="0">
              <a:buSzPct val="25000"/>
            </a:pP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>
              <a:buSzPct val="25000"/>
            </a:pPr>
            <a:r>
              <a:rPr lang="en-US" sz="2800" b="1" dirty="0"/>
              <a:t>Critical value:</a:t>
            </a:r>
            <a:r>
              <a:rPr lang="en-US" sz="2800" b="1" i="1" dirty="0"/>
              <a:t> </a:t>
            </a:r>
          </a:p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Based on confidence level (alpha) and </a:t>
            </a:r>
            <a:r>
              <a:rPr lang="en-US" sz="2800" dirty="0" err="1">
                <a:ea typeface="Gill Sans MT"/>
                <a:cs typeface="Gill Sans MT"/>
                <a:sym typeface="Gill Sans MT"/>
              </a:rPr>
              <a:t>df</a:t>
            </a:r>
            <a:endParaRPr lang="en-US" sz="2800" dirty="0">
              <a:ea typeface="Gill Sans MT"/>
              <a:cs typeface="Gill Sans MT"/>
              <a:sym typeface="Gill Sans MT"/>
            </a:endParaRPr>
          </a:p>
          <a:p>
            <a:endParaRPr 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76EA96-E7C3-49FE-8148-26FB35F7A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647" y="-1"/>
            <a:ext cx="5054353" cy="68566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0205293-1399-BE51-D550-8629D2FF6FFB}"/>
              </a:ext>
            </a:extLst>
          </p:cNvPr>
          <p:cNvSpPr/>
          <p:nvPr/>
        </p:nvSpPr>
        <p:spPr>
          <a:xfrm>
            <a:off x="9170126" y="5704114"/>
            <a:ext cx="357051" cy="148046"/>
          </a:xfrm>
          <a:prstGeom prst="rect">
            <a:avLst/>
          </a:prstGeom>
          <a:solidFill>
            <a:srgbClr val="BC451B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4B9E33-607B-ADA3-25EA-F896ADD8D9E2}"/>
              </a:ext>
            </a:extLst>
          </p:cNvPr>
          <p:cNvCxnSpPr>
            <a:cxnSpLocks/>
          </p:cNvCxnSpPr>
          <p:nvPr/>
        </p:nvCxnSpPr>
        <p:spPr>
          <a:xfrm>
            <a:off x="5054354" y="4868091"/>
            <a:ext cx="4115772" cy="83602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057B716-C84C-912C-394B-7A9EB75EDA8C}"/>
              </a:ext>
            </a:extLst>
          </p:cNvPr>
          <p:cNvSpPr txBox="1"/>
          <p:nvPr/>
        </p:nvSpPr>
        <p:spPr>
          <a:xfrm>
            <a:off x="213361" y="5615491"/>
            <a:ext cx="70974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  <a:ea typeface="Gill Sans MT"/>
                <a:cs typeface="Gill Sans MT"/>
                <a:sym typeface="Gill Sans MT"/>
              </a:rPr>
              <a:t>How do we interpret a t-score of -5.8?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080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346409" y="217048"/>
            <a:ext cx="30903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Let’s try it out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552258" y="861861"/>
            <a:ext cx="629242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American Community Survey indicates that statewide, the average commute time is 22 minutes</a:t>
            </a:r>
          </a:p>
          <a:p>
            <a:endParaRPr lang="en-US" sz="2800" dirty="0"/>
          </a:p>
          <a:p>
            <a:r>
              <a:rPr lang="en-US" sz="2800" dirty="0"/>
              <a:t>We surveyed 37 community members: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Mean commute: 17.2 minutes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Standard deviation: 3.2 minutes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dirty="0"/>
              <a:t>Is our group different from the state average?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76EA96-E7C3-49FE-8148-26FB35F7A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647" y="-1"/>
            <a:ext cx="5054353" cy="685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963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346409" y="217048"/>
            <a:ext cx="64551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How are proportions different?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552258" y="861861"/>
            <a:ext cx="1041199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</a:t>
            </a:r>
            <a:r>
              <a:rPr lang="en-US" sz="2800" b="1" i="1" dirty="0"/>
              <a:t>standard error</a:t>
            </a:r>
            <a:r>
              <a:rPr lang="en-US" sz="2800" dirty="0"/>
              <a:t> is different for proportions/rates.</a:t>
            </a:r>
          </a:p>
          <a:p>
            <a:r>
              <a:rPr lang="en-US" sz="2800" dirty="0"/>
              <a:t>We also use a z statistic rather than a t-statistic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1B0400-EC0E-41C8-ABB3-8D2577E4F120}"/>
                  </a:ext>
                </a:extLst>
              </p:cNvPr>
              <p:cNvSpPr txBox="1"/>
              <p:nvPr/>
            </p:nvSpPr>
            <p:spPr>
              <a:xfrm>
                <a:off x="1142075" y="2989546"/>
                <a:ext cx="2431884" cy="1533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1B0400-EC0E-41C8-ABB3-8D2577E4F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075" y="2989546"/>
                <a:ext cx="2431884" cy="15331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A066BF-0940-4CA4-B397-089DFA406522}"/>
                  </a:ext>
                </a:extLst>
              </p:cNvPr>
              <p:cNvSpPr txBox="1"/>
              <p:nvPr/>
            </p:nvSpPr>
            <p:spPr>
              <a:xfrm>
                <a:off x="6437088" y="2989546"/>
                <a:ext cx="4540025" cy="1937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skw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∗(1−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A066BF-0940-4CA4-B397-089DFA406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088" y="2989546"/>
                <a:ext cx="4540025" cy="19373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594AC00-7C50-4EEB-BDBA-DB6B8C1EDADA}"/>
              </a:ext>
            </a:extLst>
          </p:cNvPr>
          <p:cNvSpPr txBox="1"/>
          <p:nvPr/>
        </p:nvSpPr>
        <p:spPr>
          <a:xfrm>
            <a:off x="1450649" y="2340616"/>
            <a:ext cx="29418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T-test for counts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08FFC6-C989-45F9-90D8-8C634539C221}"/>
              </a:ext>
            </a:extLst>
          </p:cNvPr>
          <p:cNvSpPr txBox="1"/>
          <p:nvPr/>
        </p:nvSpPr>
        <p:spPr>
          <a:xfrm>
            <a:off x="7659209" y="2356776"/>
            <a:ext cx="29418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Z-test for proportions</a:t>
            </a:r>
          </a:p>
        </p:txBody>
      </p:sp>
    </p:spTree>
    <p:extLst>
      <p:ext uri="{BB962C8B-B14F-4D97-AF65-F5344CB8AC3E}">
        <p14:creationId xmlns:p14="http://schemas.microsoft.com/office/powerpoint/2010/main" val="1813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5" y="253767"/>
            <a:ext cx="945524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Two sample t-tests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C95634-62FF-47A0-9DE6-64D178990E6A}"/>
              </a:ext>
            </a:extLst>
          </p:cNvPr>
          <p:cNvSpPr txBox="1"/>
          <p:nvPr/>
        </p:nvSpPr>
        <p:spPr>
          <a:xfrm>
            <a:off x="695922" y="991725"/>
            <a:ext cx="104889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Instead of comparing one sample against a predetermined mean, identifying difference between two samples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7CBBC7-4D61-25A5-1ECB-8936DB904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852" y="2364513"/>
            <a:ext cx="8051578" cy="4239720"/>
          </a:xfrm>
          <a:prstGeom prst="rect">
            <a:avLst/>
          </a:prstGeom>
        </p:spPr>
      </p:pic>
      <p:pic>
        <p:nvPicPr>
          <p:cNvPr id="5" name="Shape 150">
            <a:extLst>
              <a:ext uri="{FF2B5EF4-FFF2-40B4-BE49-F238E27FC236}">
                <a16:creationId xmlns:a16="http://schemas.microsoft.com/office/drawing/2014/main" id="{D83ACFD0-E781-9CCC-8F9B-44A0857A2B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443" y="3531873"/>
            <a:ext cx="3089275" cy="19049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8004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5" y="253767"/>
            <a:ext cx="945524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Two sample t-tests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C95634-62FF-47A0-9DE6-64D178990E6A}"/>
              </a:ext>
            </a:extLst>
          </p:cNvPr>
          <p:cNvSpPr txBox="1"/>
          <p:nvPr/>
        </p:nvSpPr>
        <p:spPr>
          <a:xfrm>
            <a:off x="695922" y="991725"/>
            <a:ext cx="104889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question #1: Is the variance in both samples </a:t>
            </a:r>
            <a:r>
              <a:rPr lang="en-US" sz="3200" b="1" i="1" dirty="0">
                <a:solidFill>
                  <a:srgbClr val="FFC000"/>
                </a:solidFill>
              </a:rPr>
              <a:t>even</a:t>
            </a:r>
            <a:r>
              <a:rPr lang="en-US" sz="3200" b="1" dirty="0"/>
              <a:t> </a:t>
            </a:r>
            <a:r>
              <a:rPr lang="en-US" sz="3200" dirty="0"/>
              <a:t>or</a:t>
            </a:r>
            <a:r>
              <a:rPr lang="en-US" sz="3200" b="1" dirty="0"/>
              <a:t> </a:t>
            </a:r>
            <a:r>
              <a:rPr lang="en-US" sz="3200" b="1" i="1" dirty="0">
                <a:solidFill>
                  <a:srgbClr val="FFC000"/>
                </a:solidFill>
              </a:rPr>
              <a:t>uneven</a:t>
            </a:r>
            <a:r>
              <a:rPr lang="en-US" sz="3200" b="1" i="1" dirty="0"/>
              <a:t>?</a:t>
            </a:r>
            <a:endParaRPr lang="en-US" sz="3200" dirty="0"/>
          </a:p>
        </p:txBody>
      </p:sp>
      <p:pic>
        <p:nvPicPr>
          <p:cNvPr id="5" name="Shape 150">
            <a:extLst>
              <a:ext uri="{FF2B5EF4-FFF2-40B4-BE49-F238E27FC236}">
                <a16:creationId xmlns:a16="http://schemas.microsoft.com/office/drawing/2014/main" id="{D83ACFD0-E781-9CCC-8F9B-44A0857A2B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5922" y="2454655"/>
            <a:ext cx="3089275" cy="19049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6" name="Picture 5" descr="Chart, histogram">
            <a:extLst>
              <a:ext uri="{FF2B5EF4-FFF2-40B4-BE49-F238E27FC236}">
                <a16:creationId xmlns:a16="http://schemas.microsoft.com/office/drawing/2014/main" id="{D8849F51-31C1-5AF6-FE25-A0ECDBE1A1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982" y="1907274"/>
            <a:ext cx="6600968" cy="49507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9FC2A6E-AAB8-F6F6-4775-13209DC4D873}"/>
              </a:ext>
            </a:extLst>
          </p:cNvPr>
          <p:cNvSpPr/>
          <p:nvPr/>
        </p:nvSpPr>
        <p:spPr>
          <a:xfrm>
            <a:off x="1616765" y="3429000"/>
            <a:ext cx="2001078" cy="930654"/>
          </a:xfrm>
          <a:prstGeom prst="rect">
            <a:avLst/>
          </a:prstGeom>
          <a:solidFill>
            <a:srgbClr val="BC451B">
              <a:alpha val="902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17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C95634-62FF-47A0-9DE6-64D178990E6A}"/>
              </a:ext>
            </a:extLst>
          </p:cNvPr>
          <p:cNvSpPr txBox="1"/>
          <p:nvPr/>
        </p:nvSpPr>
        <p:spPr>
          <a:xfrm>
            <a:off x="442250" y="384091"/>
            <a:ext cx="1048891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question #1: Is the variance in both samples </a:t>
            </a:r>
            <a:r>
              <a:rPr lang="en-US" sz="3200" b="1" i="1" dirty="0">
                <a:solidFill>
                  <a:srgbClr val="FFC000"/>
                </a:solidFill>
              </a:rPr>
              <a:t>even</a:t>
            </a:r>
            <a:r>
              <a:rPr lang="en-US" sz="3200" b="1" dirty="0"/>
              <a:t> </a:t>
            </a:r>
            <a:r>
              <a:rPr lang="en-US" sz="3200" dirty="0"/>
              <a:t>or</a:t>
            </a:r>
            <a:r>
              <a:rPr lang="en-US" sz="3200" b="1" dirty="0"/>
              <a:t> </a:t>
            </a:r>
            <a:r>
              <a:rPr lang="en-US" sz="3200" b="1" i="1" dirty="0">
                <a:solidFill>
                  <a:srgbClr val="FFC000"/>
                </a:solidFill>
              </a:rPr>
              <a:t>uneven</a:t>
            </a:r>
            <a:r>
              <a:rPr lang="en-US" sz="3200" b="1" i="1" dirty="0"/>
              <a:t>?</a:t>
            </a:r>
          </a:p>
          <a:p>
            <a:endParaRPr lang="en-US" sz="3200" b="1" i="1" dirty="0"/>
          </a:p>
          <a:p>
            <a:r>
              <a:rPr lang="en-US" sz="3200" dirty="0"/>
              <a:t>Look at the 2019 census data and compute the standard deviation for two categories of racial classification. How do those compare?</a:t>
            </a:r>
          </a:p>
          <a:p>
            <a:endParaRPr lang="en-US" sz="3200" dirty="0"/>
          </a:p>
          <a:p>
            <a:r>
              <a:rPr lang="en-US" sz="3200" dirty="0"/>
              <a:t>Variance = Standard deviation^2</a:t>
            </a:r>
          </a:p>
        </p:txBody>
      </p:sp>
    </p:spTree>
    <p:extLst>
      <p:ext uri="{BB962C8B-B14F-4D97-AF65-F5344CB8AC3E}">
        <p14:creationId xmlns:p14="http://schemas.microsoft.com/office/powerpoint/2010/main" val="3750489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5" y="253767"/>
            <a:ext cx="945524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Two sample t-tests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C95634-62FF-47A0-9DE6-64D178990E6A}"/>
              </a:ext>
            </a:extLst>
          </p:cNvPr>
          <p:cNvSpPr txBox="1"/>
          <p:nvPr/>
        </p:nvSpPr>
        <p:spPr>
          <a:xfrm>
            <a:off x="695922" y="1004977"/>
            <a:ext cx="10488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question #2: Are the samples </a:t>
            </a:r>
            <a:r>
              <a:rPr lang="en-US" sz="3200" b="1" i="1" dirty="0">
                <a:solidFill>
                  <a:srgbClr val="FFC000"/>
                </a:solidFill>
              </a:rPr>
              <a:t>independent</a:t>
            </a:r>
            <a:r>
              <a:rPr lang="en-US" sz="3200" dirty="0"/>
              <a:t> or </a:t>
            </a:r>
            <a:r>
              <a:rPr lang="en-US" sz="3200" b="1" i="1" dirty="0">
                <a:solidFill>
                  <a:srgbClr val="FFC000"/>
                </a:solidFill>
              </a:rPr>
              <a:t>paired</a:t>
            </a:r>
            <a:r>
              <a:rPr lang="en-US" sz="3200" dirty="0"/>
              <a:t>?</a:t>
            </a:r>
          </a:p>
        </p:txBody>
      </p:sp>
      <p:pic>
        <p:nvPicPr>
          <p:cNvPr id="4" name="Picture 3" descr="A picture containing chart">
            <a:extLst>
              <a:ext uri="{FF2B5EF4-FFF2-40B4-BE49-F238E27FC236}">
                <a16:creationId xmlns:a16="http://schemas.microsoft.com/office/drawing/2014/main" id="{4282F5AA-98F1-AD88-95FB-BA5DC66E02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61" y="2333665"/>
            <a:ext cx="9733539" cy="351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886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C95634-62FF-47A0-9DE6-64D178990E6A}"/>
              </a:ext>
            </a:extLst>
          </p:cNvPr>
          <p:cNvSpPr txBox="1"/>
          <p:nvPr/>
        </p:nvSpPr>
        <p:spPr>
          <a:xfrm>
            <a:off x="341961" y="403243"/>
            <a:ext cx="104889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question #2: Are the samples </a:t>
            </a:r>
            <a:r>
              <a:rPr lang="en-US" sz="3200" b="1" i="1" dirty="0">
                <a:solidFill>
                  <a:srgbClr val="FFC000"/>
                </a:solidFill>
              </a:rPr>
              <a:t>independent</a:t>
            </a:r>
            <a:r>
              <a:rPr lang="en-US" sz="3200" dirty="0"/>
              <a:t> or </a:t>
            </a:r>
            <a:r>
              <a:rPr lang="en-US" sz="3200" b="1" i="1" dirty="0">
                <a:solidFill>
                  <a:srgbClr val="FFC000"/>
                </a:solidFill>
              </a:rPr>
              <a:t>paired</a:t>
            </a:r>
            <a:r>
              <a:rPr lang="en-US" sz="3200" dirty="0"/>
              <a:t>?</a:t>
            </a:r>
          </a:p>
          <a:p>
            <a:endParaRPr lang="en-US" sz="3200" dirty="0"/>
          </a:p>
          <a:p>
            <a:r>
              <a:rPr lang="en-US" sz="3200" dirty="0"/>
              <a:t>On a sheet of paper, write down two research questions for your area of interest. One should use two independent samples and one should use a paired sample.</a:t>
            </a:r>
          </a:p>
        </p:txBody>
      </p:sp>
      <p:pic>
        <p:nvPicPr>
          <p:cNvPr id="4" name="Picture 3" descr="A picture containing chart">
            <a:extLst>
              <a:ext uri="{FF2B5EF4-FFF2-40B4-BE49-F238E27FC236}">
                <a16:creationId xmlns:a16="http://schemas.microsoft.com/office/drawing/2014/main" id="{4282F5AA-98F1-AD88-95FB-BA5DC66E02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7801" y="5268247"/>
            <a:ext cx="3837519" cy="138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952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92">
            <a:extLst>
              <a:ext uri="{FF2B5EF4-FFF2-40B4-BE49-F238E27FC236}">
                <a16:creationId xmlns:a16="http://schemas.microsoft.com/office/drawing/2014/main" id="{276FC7B9-2499-43B4-9B1E-E89D5E2DD9B8}"/>
              </a:ext>
            </a:extLst>
          </p:cNvPr>
          <p:cNvSpPr txBox="1"/>
          <p:nvPr/>
        </p:nvSpPr>
        <p:spPr>
          <a:xfrm>
            <a:off x="8601445" y="176854"/>
            <a:ext cx="3352799" cy="70788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9999" dist="23000" dir="5400000" rotWithShape="0">
              <a:srgbClr val="000000">
                <a:alpha val="34901"/>
              </a:srgbClr>
            </a:outerShdw>
          </a:effectLst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named Atlantic tropical storms, years</a:t>
            </a:r>
          </a:p>
        </p:txBody>
      </p:sp>
      <p:graphicFrame>
        <p:nvGraphicFramePr>
          <p:cNvPr id="9" name="Shape 194">
            <a:extLst>
              <a:ext uri="{FF2B5EF4-FFF2-40B4-BE49-F238E27FC236}">
                <a16:creationId xmlns:a16="http://schemas.microsoft.com/office/drawing/2014/main" id="{EA5853FD-4B07-44EB-8FA8-DDF8A8F1585F}"/>
              </a:ext>
            </a:extLst>
          </p:cNvPr>
          <p:cNvGraphicFramePr/>
          <p:nvPr/>
        </p:nvGraphicFramePr>
        <p:xfrm>
          <a:off x="8366333" y="1061697"/>
          <a:ext cx="3587912" cy="48070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93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El Nino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</a:rPr>
                        <a:t>La Nina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0 (1.5)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Gill Sans MT"/>
                          <a:cs typeface="Gill Sans MT"/>
                          <a:sym typeface="Gill Sans MT"/>
                        </a:rPr>
                        <a:t>5 (15)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1 (3.5)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12 (21)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3 (9)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2 (6.5)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Gill Sans MT"/>
                          <a:cs typeface="Gill Sans MT"/>
                          <a:sym typeface="Gill Sans MT"/>
                        </a:rPr>
                        <a:t>17 (22)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1 (3.5)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7 (18)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2 (6.5)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6 (16.5)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bg1"/>
                          </a:solidFill>
                          <a:latin typeface="+mn-lt"/>
                          <a:ea typeface="Gill Sans MT"/>
                          <a:cs typeface="Gill Sans MT"/>
                          <a:sym typeface="Gill Sans MT"/>
                        </a:rPr>
                        <a:t>2 (6.5)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10 (20)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0 (1.5)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2 (6.5)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8 (19)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6 (16.5)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Shape 195">
            <a:extLst>
              <a:ext uri="{FF2B5EF4-FFF2-40B4-BE49-F238E27FC236}">
                <a16:creationId xmlns:a16="http://schemas.microsoft.com/office/drawing/2014/main" id="{7AF296E4-9EC1-4EE8-B99B-7EC2EFC070B8}"/>
              </a:ext>
            </a:extLst>
          </p:cNvPr>
          <p:cNvSpPr/>
          <p:nvPr/>
        </p:nvSpPr>
        <p:spPr>
          <a:xfrm>
            <a:off x="9068990" y="1441157"/>
            <a:ext cx="698853" cy="442754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Gill Sans MT"/>
              <a:ea typeface="Gill Sans MT"/>
              <a:cs typeface="Gill Sans MT"/>
              <a:sym typeface="Gill Sans MT"/>
            </a:endParaRPr>
          </a:p>
        </p:txBody>
      </p:sp>
      <p:sp>
        <p:nvSpPr>
          <p:cNvPr id="11" name="Shape 196">
            <a:extLst>
              <a:ext uri="{FF2B5EF4-FFF2-40B4-BE49-F238E27FC236}">
                <a16:creationId xmlns:a16="http://schemas.microsoft.com/office/drawing/2014/main" id="{66210E4B-1BD8-423A-8BBB-673B4573A5B6}"/>
              </a:ext>
            </a:extLst>
          </p:cNvPr>
          <p:cNvSpPr/>
          <p:nvPr/>
        </p:nvSpPr>
        <p:spPr>
          <a:xfrm>
            <a:off x="10850004" y="1446621"/>
            <a:ext cx="782246" cy="4422084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Gill Sans MT"/>
              <a:ea typeface="Gill Sans MT"/>
              <a:cs typeface="Gill Sans MT"/>
              <a:sym typeface="Gill Sans MT"/>
            </a:endParaRPr>
          </a:p>
        </p:txBody>
      </p:sp>
      <p:sp>
        <p:nvSpPr>
          <p:cNvPr id="12" name="Shape 197">
            <a:extLst>
              <a:ext uri="{FF2B5EF4-FFF2-40B4-BE49-F238E27FC236}">
                <a16:creationId xmlns:a16="http://schemas.microsoft.com/office/drawing/2014/main" id="{66DAE1EE-8FA4-4F73-A19E-158C99F9364A}"/>
              </a:ext>
            </a:extLst>
          </p:cNvPr>
          <p:cNvSpPr txBox="1"/>
          <p:nvPr/>
        </p:nvSpPr>
        <p:spPr>
          <a:xfrm>
            <a:off x="8674389" y="6180124"/>
            <a:ext cx="2971799" cy="40010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9999" dist="23000" dir="5400000" rotWithShape="0">
              <a:srgbClr val="000000">
                <a:alpha val="34901"/>
              </a:srgbClr>
            </a:outerShdw>
          </a:effectLst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2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W</a:t>
            </a:r>
            <a:r>
              <a:rPr lang="en-US" sz="2000" baseline="-25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1</a:t>
            </a:r>
            <a:r>
              <a:rPr lang="en-US" sz="2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 = 77.5       W</a:t>
            </a:r>
            <a:r>
              <a:rPr lang="en-US" sz="2000" baseline="-25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2</a:t>
            </a:r>
            <a:r>
              <a:rPr lang="en-US" sz="2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 = 175.5</a:t>
            </a:r>
          </a:p>
        </p:txBody>
      </p:sp>
      <p:sp>
        <p:nvSpPr>
          <p:cNvPr id="4" name="Shape 101">
            <a:extLst>
              <a:ext uri="{FF2B5EF4-FFF2-40B4-BE49-F238E27FC236}">
                <a16:creationId xmlns:a16="http://schemas.microsoft.com/office/drawing/2014/main" id="{432C8125-4C54-E7FD-FF3F-95EA976D241B}"/>
              </a:ext>
            </a:extLst>
          </p:cNvPr>
          <p:cNvSpPr txBox="1"/>
          <p:nvPr/>
        </p:nvSpPr>
        <p:spPr>
          <a:xfrm>
            <a:off x="536895" y="253767"/>
            <a:ext cx="6624239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Two sample t-tests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8455B8-8E53-C962-3A6B-CF4E5A68D96E}"/>
              </a:ext>
            </a:extLst>
          </p:cNvPr>
          <p:cNvSpPr txBox="1"/>
          <p:nvPr/>
        </p:nvSpPr>
        <p:spPr>
          <a:xfrm>
            <a:off x="695922" y="1004977"/>
            <a:ext cx="73484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question #3: Are the samples </a:t>
            </a:r>
            <a:r>
              <a:rPr lang="en-US" sz="3200" b="1" i="1" dirty="0">
                <a:solidFill>
                  <a:srgbClr val="FFC000"/>
                </a:solidFill>
              </a:rPr>
              <a:t>parametric (normal)</a:t>
            </a:r>
            <a:r>
              <a:rPr lang="en-US" sz="3200" dirty="0"/>
              <a:t> or </a:t>
            </a:r>
            <a:r>
              <a:rPr lang="en-US" sz="3200" b="1" i="1" dirty="0">
                <a:solidFill>
                  <a:srgbClr val="FFC000"/>
                </a:solidFill>
              </a:rPr>
              <a:t>non-parametric</a:t>
            </a:r>
            <a:r>
              <a:rPr lang="en-US" sz="3200" dirty="0"/>
              <a:t>?</a:t>
            </a:r>
          </a:p>
        </p:txBody>
      </p:sp>
      <p:pic>
        <p:nvPicPr>
          <p:cNvPr id="13" name="Picture 12" descr="Chart, bar chart, histogram&#10;&#10;Description automatically generated">
            <a:extLst>
              <a:ext uri="{FF2B5EF4-FFF2-40B4-BE49-F238E27FC236}">
                <a16:creationId xmlns:a16="http://schemas.microsoft.com/office/drawing/2014/main" id="{C5ADD4AD-5FFD-CA89-CF5B-1B5EE3D63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845" y="2248705"/>
            <a:ext cx="5153142" cy="431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01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346409" y="217048"/>
            <a:ext cx="40485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Midterm reflection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552257" y="861861"/>
            <a:ext cx="11439445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effectLst/>
              </a:rPr>
              <a:t>How often have you watched the online videos?</a:t>
            </a:r>
          </a:p>
          <a:p>
            <a:pPr marL="914400" indent="-4572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effectLst/>
              </a:rPr>
              <a:t>How often have you submitted assignments on time (or nearly on time)?</a:t>
            </a:r>
          </a:p>
          <a:p>
            <a:pPr marL="914400" indent="-4572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/>
              <a:t>What are two things you have learned about data science and quantitative analysis that are NOT about learning R/coding?</a:t>
            </a:r>
          </a:p>
          <a:p>
            <a:pPr marL="914400" indent="-4572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/>
              <a:t>What is at least one thing you have found valuable about your work in R/</a:t>
            </a:r>
            <a:r>
              <a:rPr lang="en-US" sz="2800" dirty="0" err="1"/>
              <a:t>Rstudio</a:t>
            </a:r>
            <a:r>
              <a:rPr lang="en-US" sz="2800" dirty="0"/>
              <a:t>/Github?</a:t>
            </a:r>
          </a:p>
          <a:p>
            <a:pPr marL="914400" indent="-4572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/>
              <a:t>What do you want to gain or improve on as a learner from the remainder of this course? </a:t>
            </a:r>
          </a:p>
          <a:p>
            <a:pPr marL="914400" indent="-4572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/>
              <a:t>Are there any changes I could make to the course to help you as a learner?</a:t>
            </a:r>
            <a:br>
              <a:rPr lang="en-US" sz="2800" dirty="0"/>
            </a:br>
            <a:endParaRPr lang="en-US" sz="2800" dirty="0"/>
          </a:p>
          <a:p>
            <a:pPr marL="457200" rtl="0" fontAlgn="base"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Submit via the ELC Assignments tool</a:t>
            </a:r>
          </a:p>
        </p:txBody>
      </p:sp>
    </p:spTree>
    <p:extLst>
      <p:ext uri="{BB962C8B-B14F-4D97-AF65-F5344CB8AC3E}">
        <p14:creationId xmlns:p14="http://schemas.microsoft.com/office/powerpoint/2010/main" val="26588117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63</TotalTime>
  <Words>1021</Words>
  <Application>Microsoft Office PowerPoint</Application>
  <PresentationFormat>Widescreen</PresentationFormat>
  <Paragraphs>164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Calisto MT</vt:lpstr>
      <vt:lpstr>Cambria Math</vt:lpstr>
      <vt:lpstr>Gill Sans MT</vt:lpstr>
      <vt:lpstr>Times New Roman</vt:lpstr>
      <vt:lpstr>Wingdings 2</vt:lpstr>
      <vt:lpstr>Slate</vt:lpstr>
      <vt:lpstr>Week 6: Tests of difference; Midterm reflections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Descriptive statistics</dc:title>
  <dc:creator>Jerry Shannon</dc:creator>
  <cp:lastModifiedBy>Jerry Shannon</cp:lastModifiedBy>
  <cp:revision>72</cp:revision>
  <dcterms:created xsi:type="dcterms:W3CDTF">2021-09-02T15:10:57Z</dcterms:created>
  <dcterms:modified xsi:type="dcterms:W3CDTF">2023-10-10T16:39:13Z</dcterms:modified>
</cp:coreProperties>
</file>